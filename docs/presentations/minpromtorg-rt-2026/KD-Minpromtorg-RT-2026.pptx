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2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6032"/>
            <a:ext cx="384048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24128" y="292608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6F1E6"/>
                </a:solidFill>
                <a:latin typeface="Calibri"/>
              </a:rPr>
              <a:t>ООО «Казанские Деликатесы»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9A227"/>
                </a:solidFill>
                <a:latin typeface="Calibri"/>
              </a:rPr>
              <a:t>ДЛЯ МИНИСТЕРСТВА ПРОМЫШЛЕННОСТИ И ТОРГОВЛИ РЕСПУБЛИКИ ТАТАРСТАН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6F1E6"/>
                </a:solidFill>
                <a:latin typeface="Calibri"/>
              </a:rPr>
              <a:t>Производство халяльной</a:t>
            </a:r>
          </a:p>
          <a:p>
            <a:pPr algn="l"/>
            <a:r>
              <a:rPr sz="4000" b="1">
                <a:solidFill>
                  <a:srgbClr val="F6F1E6"/>
                </a:solidFill>
                <a:latin typeface="Calibri"/>
              </a:rPr>
              <a:t>мясной продукции.</a:t>
            </a:r>
          </a:p>
          <a:p>
            <a:pPr algn="l"/>
            <a:r>
              <a:rPr sz="4000" b="1">
                <a:solidFill>
                  <a:srgbClr val="F6F1E6"/>
                </a:solidFill>
                <a:latin typeface="Calibri"/>
              </a:rPr>
              <a:t>Роботизация линий.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6F1E6"/>
                </a:solidFill>
                <a:latin typeface="Calibri"/>
              </a:rPr>
              <a:t>Казань, Агропромышленный парк. Выступление по проекту модернизации и мерам поддержки 2026 года.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709160"/>
            <a:ext cx="2651760" cy="1143000"/>
          </a:xfrm>
          <a:prstGeom prst="roundRect">
            <a:avLst>
              <a:gd name="adj" fmla="val 8000"/>
            </a:avLst>
          </a:prstGeom>
          <a:solidFill>
            <a:srgbClr val="0C2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4837176"/>
            <a:ext cx="2377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C9A227"/>
                </a:solidFill>
                <a:latin typeface="Calibri"/>
              </a:rPr>
              <a:t>869 млн 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525780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6F1E6"/>
                </a:solidFill>
                <a:latin typeface="Calibri"/>
              </a:rPr>
              <a:t>выручка 2025, БФО ФНС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4709160"/>
            <a:ext cx="2651760" cy="1143000"/>
          </a:xfrm>
          <a:prstGeom prst="roundRect">
            <a:avLst>
              <a:gd name="adj" fmla="val 8000"/>
            </a:avLst>
          </a:prstGeom>
          <a:solidFill>
            <a:srgbClr val="0C2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9584" y="4837176"/>
            <a:ext cx="2377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C9A227"/>
                </a:solidFill>
                <a:latin typeface="Calibri"/>
              </a:rPr>
              <a:t>&gt; 1 млрд 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9584" y="525780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6F1E6"/>
                </a:solidFill>
                <a:latin typeface="Calibri"/>
              </a:rPr>
              <a:t>прогноз оборота 2026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709160"/>
            <a:ext cx="2651760" cy="1143000"/>
          </a:xfrm>
          <a:prstGeom prst="roundRect">
            <a:avLst>
              <a:gd name="adj" fmla="val 8000"/>
            </a:avLst>
          </a:prstGeom>
          <a:solidFill>
            <a:srgbClr val="0C2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64224" y="4837176"/>
            <a:ext cx="2377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C9A227"/>
                </a:solidFill>
                <a:latin typeface="Calibri"/>
              </a:rPr>
              <a:t>110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4224" y="525780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6F1E6"/>
                </a:solidFill>
                <a:latin typeface="Calibri"/>
              </a:rPr>
              <a:t>сотрудников сейчас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560" y="4709160"/>
            <a:ext cx="2560320" cy="1143000"/>
          </a:xfrm>
          <a:prstGeom prst="roundRect">
            <a:avLst>
              <a:gd name="adj" fmla="val 8000"/>
            </a:avLst>
          </a:prstGeom>
          <a:solidFill>
            <a:srgbClr val="0C2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98864" y="4837176"/>
            <a:ext cx="2286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C9A227"/>
                </a:solidFill>
                <a:latin typeface="Calibri"/>
              </a:rPr>
              <a:t>3 600 м²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98864" y="52578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6F1E6"/>
                </a:solidFill>
                <a:latin typeface="Calibri"/>
              </a:rPr>
              <a:t>производство, склад, холод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537960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A8C80"/>
                </a:solidFill>
                <a:latin typeface="Calibri"/>
              </a:rPr>
              <a:t>ООО «Казанские Деликатесы»  ·  ИНН 1686021074  ·  для служебного пользования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53796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7A8C80"/>
                </a:solidFill>
                <a:latin typeface="Calibri"/>
              </a:rPr>
              <a:t>1 / 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6032"/>
            <a:ext cx="384048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24128" y="292608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5E3B"/>
                </a:solidFill>
                <a:latin typeface="Calibri"/>
              </a:rPr>
              <a:t>ООО «Казанские Деликатесы»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5E3B"/>
                </a:solidFill>
                <a:latin typeface="Calibri"/>
              </a:rPr>
              <a:t>СНИМОК ПРЕДПРИЯТИЯ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2241B"/>
                </a:solidFill>
                <a:latin typeface="Calibri"/>
              </a:rPr>
              <a:t>Что мы имеем сегодня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6B60"/>
                </a:solidFill>
                <a:latin typeface="Calibri"/>
              </a:rPr>
              <a:t>Действующий завод полного цикла в Казани. Площади и штат — факт на август 2026.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03120"/>
            <a:ext cx="274320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2231136"/>
            <a:ext cx="2468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B5E3B"/>
                </a:solidFill>
                <a:latin typeface="Calibri"/>
              </a:rPr>
              <a:t>110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265176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B60"/>
                </a:solidFill>
                <a:latin typeface="Calibri"/>
              </a:rPr>
              <a:t>человек в штате. ССЧ ФНС 2025: 64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2103120"/>
            <a:ext cx="274320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75304" y="2231136"/>
            <a:ext cx="2468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B5E3B"/>
                </a:solidFill>
                <a:latin typeface="Calibri"/>
              </a:rPr>
              <a:t>2 000 м²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75304" y="265176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B60"/>
                </a:solidFill>
                <a:latin typeface="Calibri"/>
              </a:rPr>
              <a:t>производственные помещения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59" y="2103120"/>
            <a:ext cx="274320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5663" y="2231136"/>
            <a:ext cx="2468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B5E3B"/>
                </a:solidFill>
                <a:latin typeface="Calibri"/>
              </a:rPr>
              <a:t>1 300 м²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5663" y="265176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B60"/>
                </a:solidFill>
                <a:latin typeface="Calibri"/>
              </a:rPr>
              <a:t>холодильные камеры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89719" y="2103120"/>
            <a:ext cx="274320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36023" y="2231136"/>
            <a:ext cx="2468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B5E3B"/>
                </a:solidFill>
                <a:latin typeface="Calibri"/>
              </a:rPr>
              <a:t>300 м²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36023" y="265176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B60"/>
                </a:solidFill>
                <a:latin typeface="Calibri"/>
              </a:rPr>
              <a:t>складские помещения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069079"/>
            <a:ext cx="274320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4197095"/>
            <a:ext cx="2468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B5E3B"/>
                </a:solidFill>
                <a:latin typeface="Calibri"/>
              </a:rPr>
              <a:t>64 SKU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" y="4617719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B60"/>
                </a:solidFill>
                <a:latin typeface="Calibri"/>
              </a:rPr>
              <a:t>пепперони, сосиски, ветчины, казылык, выпечка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29000" y="4069079"/>
            <a:ext cx="274320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75304" y="4197095"/>
            <a:ext cx="2468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B5E3B"/>
                </a:solidFill>
                <a:latin typeface="Calibri"/>
              </a:rPr>
              <a:t>2022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75304" y="4617719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B60"/>
                </a:solidFill>
                <a:latin typeface="Calibri"/>
              </a:rPr>
              <a:t>регистрация. В 2023 площадку посетил Раис РТ Р. Н. Минниханов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59" y="4069079"/>
            <a:ext cx="274320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55663" y="4197095"/>
            <a:ext cx="2468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B5E3B"/>
                </a:solidFill>
                <a:latin typeface="Calibri"/>
              </a:rPr>
              <a:t>ОСНО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55663" y="4617719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B60"/>
                </a:solidFill>
                <a:latin typeface="Calibri"/>
              </a:rPr>
              <a:t>ИНН 1686021074 · ОКВЭД 10.13 · Агропромпарк «Казань»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89719" y="4069079"/>
            <a:ext cx="274320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36023" y="4197095"/>
            <a:ext cx="2468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B5E3B"/>
                </a:solidFill>
                <a:latin typeface="Calibri"/>
              </a:rPr>
              <a:t>3 600 м²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36023" y="4617719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B60"/>
                </a:solidFill>
                <a:latin typeface="Calibri"/>
              </a:rPr>
              <a:t>суммарно производство + холод + склад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537960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AA89E"/>
                </a:solidFill>
                <a:latin typeface="Calibri"/>
              </a:rPr>
              <a:t>ООО «Казанские Деликатесы»  ·  ИНН 1686021074  ·  для служебного пользования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7040" y="653796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AA89E"/>
                </a:solidFill>
                <a:latin typeface="Calibri"/>
              </a:rPr>
              <a:t>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6032"/>
            <a:ext cx="384048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24128" y="292608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5E3B"/>
                </a:solidFill>
                <a:latin typeface="Calibri"/>
              </a:rPr>
              <a:t>ООО «Казанские Деликатесы»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5E3B"/>
                </a:solidFill>
                <a:latin typeface="Calibri"/>
              </a:rPr>
              <a:t>О КОМПАНИИ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2241B"/>
                </a:solidFill>
                <a:latin typeface="Calibri"/>
              </a:rPr>
              <a:t>Халяльный производитель Республики Татарстан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694944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29384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2241B"/>
                </a:solidFill>
                <a:latin typeface="Calibri"/>
              </a:rPr>
              <a:t>ООО «Казанские Деликатесы». Гендиректор — Адаева Гульнара Нурхаматовна.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532888"/>
            <a:ext cx="694944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679192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2241B"/>
                </a:solidFill>
                <a:latin typeface="Calibri"/>
              </a:rPr>
              <a:t>Сырьё: говядина, конина, курица, индейка. Свинины нет.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282696"/>
            <a:ext cx="694944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429000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2241B"/>
                </a:solidFill>
                <a:latin typeface="Calibri"/>
              </a:rPr>
              <a:t>Халяль ДУМ РТ № 614A/2024. HACCP. ISO 22000:2018. ТР ТС 021/2011.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032504"/>
            <a:ext cx="694944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178808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2241B"/>
                </a:solidFill>
                <a:latin typeface="Calibri"/>
              </a:rPr>
              <a:t>Контрактное производство / СТМ: линейка Aslam для АО «ОМПК».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782312"/>
            <a:ext cx="694944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928616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2241B"/>
                </a:solidFill>
                <a:latin typeface="Calibri"/>
              </a:rPr>
              <a:t>Поставки: Татарстан, федеральные сети, АЗС, HoReCa, экспорт ЕАЭС.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783080"/>
            <a:ext cx="3840480" cy="4023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79" y="19659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B5E3B"/>
                </a:solidFill>
                <a:latin typeface="Calibri"/>
              </a:rPr>
              <a:t>РЕКВИЗИТЫ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2377440"/>
            <a:ext cx="34747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2241B"/>
                </a:solidFill>
                <a:latin typeface="Calibri"/>
              </a:rPr>
              <a:t>ИНН 1686021074</a:t>
            </a:r>
          </a:p>
          <a:p>
            <a:pPr algn="l"/>
            <a:r>
              <a:rPr sz="1600" b="0">
                <a:solidFill>
                  <a:srgbClr val="12241B"/>
                </a:solidFill>
                <a:latin typeface="Calibri"/>
              </a:rPr>
              <a:t>ОГРН 1221600096893</a:t>
            </a:r>
          </a:p>
          <a:p>
            <a:pPr algn="l"/>
            <a:r>
              <a:rPr sz="1600" b="0">
                <a:solidFill>
                  <a:srgbClr val="12241B"/>
                </a:solidFill>
                <a:latin typeface="Calibri"/>
              </a:rPr>
              <a:t>Казань, ул. Аграрная, 2, оф. 7</a:t>
            </a:r>
          </a:p>
          <a:p>
            <a:pPr algn="l"/>
            <a:r>
              <a:rPr sz="1600" b="0">
                <a:solidFill>
                  <a:srgbClr val="12241B"/>
                </a:solidFill>
                <a:latin typeface="Calibri"/>
              </a:rPr>
              <a:t>+7 987 217-02-02</a:t>
            </a:r>
          </a:p>
          <a:p>
            <a:pPr algn="l"/>
            <a:r>
              <a:rPr sz="1600" b="0">
                <a:solidFill>
                  <a:srgbClr val="12241B"/>
                </a:solidFill>
                <a:latin typeface="Calibri"/>
              </a:rPr>
              <a:t>info@kazandelikates.tatar</a:t>
            </a:r>
          </a:p>
          <a:p>
            <a:pPr algn="l"/>
            <a:r>
              <a:rPr sz="1600" b="0">
                <a:solidFill>
                  <a:srgbClr val="12241B"/>
                </a:solidFill>
                <a:latin typeface="Calibri"/>
              </a:rPr>
              <a:t>kazandelikates.tatar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537960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AA89E"/>
                </a:solidFill>
                <a:latin typeface="Calibri"/>
              </a:rPr>
              <a:t>ООО «Казанские Деликатесы»  ·  ИНН 1686021074  ·  для служебного пользования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53796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AA89E"/>
                </a:solidFill>
                <a:latin typeface="Calibri"/>
              </a:rPr>
              <a:t>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6032"/>
            <a:ext cx="384048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24128" y="292608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5E3B"/>
                </a:solidFill>
                <a:latin typeface="Calibri"/>
              </a:rPr>
              <a:t>ООО «Казанские Деликатесы»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5E3B"/>
                </a:solidFill>
                <a:latin typeface="Calibri"/>
              </a:rPr>
              <a:t>ФИНАНСЫ · ВЫРУЧКА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2241B"/>
                </a:solidFill>
                <a:latin typeface="Calibri"/>
              </a:rPr>
              <a:t>От 59 млн до 869 млн за три отчётных года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4332428"/>
            <a:ext cx="1920240" cy="559612"/>
          </a:xfrm>
          <a:prstGeom prst="roundRect">
            <a:avLst>
              <a:gd name="adj" fmla="val 8000"/>
            </a:avLst>
          </a:prstGeom>
          <a:solidFill>
            <a:srgbClr val="1B5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984956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2241B"/>
                </a:solidFill>
                <a:latin typeface="Calibri"/>
              </a:rPr>
              <a:t>58,6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9834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5A6B60"/>
                </a:solidFill>
                <a:latin typeface="Calibri"/>
              </a:rPr>
              <a:t>2023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0" y="3648456"/>
            <a:ext cx="1920240" cy="1243584"/>
          </a:xfrm>
          <a:prstGeom prst="roundRect">
            <a:avLst>
              <a:gd name="adj" fmla="val 8000"/>
            </a:avLst>
          </a:prstGeom>
          <a:solidFill>
            <a:srgbClr val="1B5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0" y="3300984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2241B"/>
                </a:solidFill>
                <a:latin typeface="Calibri"/>
              </a:rPr>
              <a:t>313,9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49834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5A6B60"/>
                </a:solidFill>
                <a:latin typeface="Calibri"/>
              </a:rPr>
              <a:t>2024  +435%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2342693"/>
            <a:ext cx="1920240" cy="2549347"/>
          </a:xfrm>
          <a:prstGeom prst="roundRect">
            <a:avLst>
              <a:gd name="adj" fmla="val 8000"/>
            </a:avLst>
          </a:prstGeom>
          <a:solidFill>
            <a:srgbClr val="1B5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995221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2241B"/>
                </a:solidFill>
                <a:latin typeface="Calibri"/>
              </a:rPr>
              <a:t>869,1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49834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5A6B60"/>
                </a:solidFill>
                <a:latin typeface="Calibri"/>
              </a:rPr>
              <a:t>2025  +177%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26880" y="1969618"/>
            <a:ext cx="1920240" cy="2922422"/>
          </a:xfrm>
          <a:prstGeom prst="roundRect">
            <a:avLst>
              <a:gd name="adj" fmla="val 8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0" y="1622146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2241B"/>
                </a:solidFill>
                <a:latin typeface="Calibri"/>
              </a:rPr>
              <a:t>&gt; 1 000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49834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5A6B60"/>
                </a:solidFill>
                <a:latin typeface="Calibri"/>
              </a:rPr>
              <a:t>2026 прогноз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989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B60"/>
                </a:solidFill>
                <a:latin typeface="Calibri"/>
              </a:rPr>
              <a:t>млн ₽, стр. 2110 БФО. 2023–2025 — ФНС / ГИР БО. 2026 — прогноз: превысить 1 млрд ₽. 1 кв. 2026 (управленка): 229 млн ₽.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537960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AA89E"/>
                </a:solidFill>
                <a:latin typeface="Calibri"/>
              </a:rPr>
              <a:t>ООО «Казанские Деликатесы»  ·  ИНН 1686021074  ·  для служебного пользования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53796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AA89E"/>
                </a:solidFill>
                <a:latin typeface="Calibri"/>
              </a:rPr>
              <a:t>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6032"/>
            <a:ext cx="384048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24128" y="292608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5E3B"/>
                </a:solidFill>
                <a:latin typeface="Calibri"/>
              </a:rPr>
              <a:t>ООО «Казанские Деликатесы»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5E3B"/>
                </a:solidFill>
                <a:latin typeface="Calibri"/>
              </a:rPr>
              <a:t>ФИНАНСЫ · РЕЗУЛЬТАТ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2241B"/>
                </a:solidFill>
                <a:latin typeface="Calibri"/>
              </a:rPr>
              <a:t>Прибыль растёт вместе с масштабом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11064240" cy="4389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764792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A6B60"/>
                </a:solidFill>
                <a:latin typeface="Calibri"/>
              </a:rPr>
              <a:t>Показатель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176479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5A6B60"/>
                </a:solidFill>
                <a:latin typeface="Calibri"/>
              </a:rPr>
              <a:t>2023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176479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5A6B60"/>
                </a:solidFill>
                <a:latin typeface="Calibri"/>
              </a:rPr>
              <a:t>2024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176479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5A6B60"/>
                </a:solidFill>
                <a:latin typeface="Calibri"/>
              </a:rPr>
              <a:t>2025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130552"/>
            <a:ext cx="11064240" cy="438912"/>
          </a:xfrm>
          <a:prstGeom prst="roundRect">
            <a:avLst>
              <a:gd name="adj" fmla="val 8000"/>
            </a:avLst>
          </a:prstGeom>
          <a:solidFill>
            <a:srgbClr val="EEE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203704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2241B"/>
                </a:solidFill>
                <a:latin typeface="Calibri"/>
              </a:rPr>
              <a:t>Выручка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220370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12241B"/>
                </a:solidFill>
                <a:latin typeface="Calibri"/>
              </a:rPr>
              <a:t>58,6 млн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220370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12241B"/>
                </a:solidFill>
                <a:latin typeface="Calibri"/>
              </a:rPr>
              <a:t>313,9 млн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220370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1B5E3B"/>
                </a:solidFill>
                <a:latin typeface="Calibri"/>
              </a:rPr>
              <a:t>869,1 млн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2569464"/>
            <a:ext cx="11064240" cy="4389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2642616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2241B"/>
                </a:solidFill>
                <a:latin typeface="Calibri"/>
              </a:rPr>
              <a:t>Чистая прибыль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264261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12241B"/>
                </a:solidFill>
                <a:latin typeface="Calibri"/>
              </a:rPr>
              <a:t>0,13 млн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264261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12241B"/>
                </a:solidFill>
                <a:latin typeface="Calibri"/>
              </a:rPr>
              <a:t>39,6 млн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264261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1B5E3B"/>
                </a:solidFill>
                <a:latin typeface="Calibri"/>
              </a:rPr>
              <a:t>68,9 млн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008376"/>
            <a:ext cx="11064240" cy="438912"/>
          </a:xfrm>
          <a:prstGeom prst="roundRect">
            <a:avLst>
              <a:gd name="adj" fmla="val 8000"/>
            </a:avLst>
          </a:prstGeom>
          <a:solidFill>
            <a:srgbClr val="EEE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3081528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2241B"/>
                </a:solidFill>
                <a:latin typeface="Calibri"/>
              </a:rPr>
              <a:t>Норма чистой прибыли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60" y="308152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12241B"/>
                </a:solidFill>
                <a:latin typeface="Calibri"/>
              </a:rPr>
              <a:t>0,2%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308152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12241B"/>
                </a:solidFill>
                <a:latin typeface="Calibri"/>
              </a:rPr>
              <a:t>12,6%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308152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1B5E3B"/>
                </a:solidFill>
                <a:latin typeface="Calibri"/>
              </a:rPr>
              <a:t>7,9%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3447288"/>
            <a:ext cx="11064240" cy="4389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352044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2241B"/>
                </a:solidFill>
                <a:latin typeface="Calibri"/>
              </a:rPr>
              <a:t>Активы на 31 декабря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7760" y="35204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12241B"/>
                </a:solidFill>
                <a:latin typeface="Calibri"/>
              </a:rPr>
              <a:t>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0" y="35204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12241B"/>
                </a:solidFill>
                <a:latin typeface="Calibri"/>
              </a:rPr>
              <a:t>146 млн*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0" y="35204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1B5E3B"/>
                </a:solidFill>
                <a:latin typeface="Calibri"/>
              </a:rPr>
              <a:t>266 млн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3886200"/>
            <a:ext cx="11064240" cy="438912"/>
          </a:xfrm>
          <a:prstGeom prst="roundRect">
            <a:avLst>
              <a:gd name="adj" fmla="val 8000"/>
            </a:avLst>
          </a:prstGeom>
          <a:solidFill>
            <a:srgbClr val="EEE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3959352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2241B"/>
                </a:solidFill>
                <a:latin typeface="Calibri"/>
              </a:rPr>
              <a:t>Собственный капитал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37760" y="395935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12241B"/>
                </a:solidFill>
                <a:latin typeface="Calibri"/>
              </a:rPr>
              <a:t>0,14 млн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0" y="395935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12241B"/>
                </a:solidFill>
                <a:latin typeface="Calibri"/>
              </a:rPr>
              <a:t>39,8 млн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0" y="395935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1B5E3B"/>
                </a:solidFill>
                <a:latin typeface="Calibri"/>
              </a:rPr>
              <a:t>96,2 млн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4325112"/>
            <a:ext cx="11064240" cy="4389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4398264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2241B"/>
                </a:solidFill>
                <a:latin typeface="Calibri"/>
              </a:rPr>
              <a:t>Основные средства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37760" y="439826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12241B"/>
                </a:solidFill>
                <a:latin typeface="Calibri"/>
              </a:rPr>
              <a:t>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32320" y="439826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12241B"/>
                </a:solidFill>
                <a:latin typeface="Calibri"/>
              </a:rPr>
              <a:t>38,7 млн*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26880" y="439826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1B5E3B"/>
                </a:solidFill>
                <a:latin typeface="Calibri"/>
              </a:rPr>
              <a:t>68,9 млн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" y="4764024"/>
            <a:ext cx="11064240" cy="438912"/>
          </a:xfrm>
          <a:prstGeom prst="roundRect">
            <a:avLst>
              <a:gd name="adj" fmla="val 8000"/>
            </a:avLst>
          </a:prstGeom>
          <a:solidFill>
            <a:srgbClr val="EEE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5800" y="4837176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2241B"/>
                </a:solidFill>
                <a:latin typeface="Calibri"/>
              </a:rPr>
              <a:t>ССЧ, ФНС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937760" y="483717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12241B"/>
                </a:solidFill>
                <a:latin typeface="Calibri"/>
              </a:rPr>
              <a:t>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32320" y="483717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12241B"/>
                </a:solidFill>
                <a:latin typeface="Calibri"/>
              </a:rPr>
              <a:t>32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0" y="483717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1B5E3B"/>
                </a:solidFill>
                <a:latin typeface="Calibri"/>
              </a:rPr>
              <a:t>64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B60"/>
                </a:solidFill>
                <a:latin typeface="Calibri"/>
              </a:rPr>
              <a:t>*2024 активы и ОС — оценка по темпам Checko 2025. Рентабельность продаж 2024: 15,9% (выше ¾ отрасли 10.13, TestFirm).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6537960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AA89E"/>
                </a:solidFill>
                <a:latin typeface="Calibri"/>
              </a:rPr>
              <a:t>ООО «Казанские Деликатесы»  ·  ИНН 1686021074  ·  для служебного пользования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607040" y="653796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AA89E"/>
                </a:solidFill>
                <a:latin typeface="Calibri"/>
              </a:rPr>
              <a:t>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6032"/>
            <a:ext cx="384048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24128" y="292608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5E3B"/>
                </a:solidFill>
                <a:latin typeface="Calibri"/>
              </a:rPr>
              <a:t>ООО «Казанские Деликатесы»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5E3B"/>
                </a:solidFill>
                <a:latin typeface="Calibri"/>
              </a:rPr>
              <a:t>НАЛОГИ И ВЗНОСЫ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2241B"/>
                </a:solidFill>
                <a:latin typeface="Calibri"/>
              </a:rPr>
              <a:t>45 млн ₽ в бюджет и фонды за 2025 год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667512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83664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2241B"/>
                </a:solidFill>
                <a:latin typeface="Calibri"/>
              </a:rPr>
              <a:t>Налог на прибыль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1883664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1B5E3B"/>
                </a:solidFill>
                <a:latin typeface="Calibri"/>
              </a:rPr>
              <a:t>19,4 млн 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450592"/>
            <a:ext cx="667512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596896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2241B"/>
                </a:solidFill>
                <a:latin typeface="Calibri"/>
              </a:rPr>
              <a:t>НДС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2596896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1B5E3B"/>
                </a:solidFill>
                <a:latin typeface="Calibri"/>
              </a:rPr>
              <a:t>6,5 млн ₽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163824"/>
            <a:ext cx="667512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310128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2241B"/>
                </a:solidFill>
                <a:latin typeface="Calibri"/>
              </a:rPr>
              <a:t>Страховые взносы (СФР)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331012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1B5E3B"/>
                </a:solidFill>
                <a:latin typeface="Calibri"/>
              </a:rPr>
              <a:t>19,0 млн ₽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877056"/>
            <a:ext cx="667512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02336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2241B"/>
                </a:solidFill>
                <a:latin typeface="Calibri"/>
              </a:rPr>
              <a:t>Транспортный налог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40233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1B5E3B"/>
                </a:solidFill>
                <a:latin typeface="Calibri"/>
              </a:rPr>
              <a:t>0,04 млн ₽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590288"/>
            <a:ext cx="667512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736592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241B"/>
                </a:solidFill>
                <a:latin typeface="Calibri"/>
              </a:rPr>
              <a:t>Итого уплачено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4736592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1B5E3B"/>
                </a:solidFill>
                <a:latin typeface="Calibri"/>
              </a:rPr>
              <a:t>44,9 млн ₽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79" y="1737360"/>
            <a:ext cx="411480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44383" y="1865376"/>
            <a:ext cx="3840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B5E3B"/>
                </a:solidFill>
                <a:latin typeface="Calibri"/>
              </a:rPr>
              <a:t>×3,6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44383" y="228600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B60"/>
                </a:solidFill>
                <a:latin typeface="Calibri"/>
              </a:rPr>
              <a:t>рост налогов и взносов 2024→2025. ФНС: налоги +304%, взносы +218%. 2024 ≈ 12,4 млн ₽ (оценка по темпам).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79" y="3931920"/>
            <a:ext cx="41148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44383" y="4059936"/>
            <a:ext cx="3840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B5E3B"/>
                </a:solidFill>
                <a:latin typeface="Calibri"/>
              </a:rPr>
              <a:t>ОСНО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44383" y="448056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B60"/>
                </a:solidFill>
                <a:latin typeface="Calibri"/>
              </a:rPr>
              <a:t>Плательщик налога на прибыль и НДС. Просим инструмент под рост производства, не льготу «вместо» налогов.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537960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AA89E"/>
                </a:solidFill>
                <a:latin typeface="Calibri"/>
              </a:rPr>
              <a:t>ООО «Казанские Деликатесы»  ·  ИНН 1686021074  ·  для служебного пользования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07040" y="653796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AA89E"/>
                </a:solidFill>
                <a:latin typeface="Calibri"/>
              </a:rPr>
              <a:t>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6032"/>
            <a:ext cx="384048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24128" y="292608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5E3B"/>
                </a:solidFill>
                <a:latin typeface="Calibri"/>
              </a:rPr>
              <a:t>ООО «Казанские Деликатесы»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5E3B"/>
                </a:solidFill>
                <a:latin typeface="Calibri"/>
              </a:rPr>
              <a:t>ПРОИЗВОДСТВЕННАЯ БАЗА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2241B"/>
                </a:solidFill>
                <a:latin typeface="Calibri"/>
              </a:rPr>
              <a:t>Площадка готова к следующему шагу мощности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365760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1911096"/>
            <a:ext cx="3383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B5E3B"/>
                </a:solidFill>
                <a:latin typeface="Calibri"/>
              </a:rPr>
              <a:t>2 000 м²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233172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B60"/>
                </a:solidFill>
                <a:latin typeface="Calibri"/>
              </a:rPr>
              <a:t>Производство: термообработка, копчение, сыровяление, формовка, нарезка, выпечка, шоковая заморозка.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783080"/>
            <a:ext cx="365760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9704" y="1911096"/>
            <a:ext cx="3383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B5E3B"/>
                </a:solidFill>
                <a:latin typeface="Calibri"/>
              </a:rPr>
              <a:t>1 300 м²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9704" y="233172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B60"/>
                </a:solidFill>
                <a:latin typeface="Calibri"/>
              </a:rPr>
              <a:t>Холодильный контур. Без него не держатся ни сети, ни экспорт, ни рост SKU.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783080"/>
            <a:ext cx="365760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84464" y="1911096"/>
            <a:ext cx="3383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B5E3B"/>
                </a:solidFill>
                <a:latin typeface="Calibri"/>
              </a:rPr>
              <a:t>300 м²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4464" y="233172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B60"/>
                </a:solidFill>
                <a:latin typeface="Calibri"/>
              </a:rPr>
              <a:t>Склад готовой продукции. Узкое место при росте отгрузок в сети и на АЗС.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886200"/>
            <a:ext cx="365760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" y="4014216"/>
            <a:ext cx="3383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B5E3B"/>
                </a:solidFill>
                <a:latin typeface="Calibri"/>
              </a:rPr>
              <a:t>110 человек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443484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B60"/>
                </a:solidFill>
                <a:latin typeface="Calibri"/>
              </a:rPr>
              <a:t>Текущий штат. ССЧ ФНС: 9 → 32 → 64. Рост людей не догоняет рост тонн — нужна автоматизация упаковки.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43400" y="3886200"/>
            <a:ext cx="365760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9704" y="4014216"/>
            <a:ext cx="3383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B5E3B"/>
                </a:solidFill>
                <a:latin typeface="Calibri"/>
              </a:rPr>
              <a:t>68,9 млн 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9704" y="443484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B60"/>
                </a:solidFill>
                <a:latin typeface="Calibri"/>
              </a:rPr>
              <a:t>Основные средства на 31.12.2025. Лизинг уже используем. Следующий контур — роботы + Variovac.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3886200"/>
            <a:ext cx="365760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84464" y="4014216"/>
            <a:ext cx="3383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B5E3B"/>
                </a:solidFill>
                <a:latin typeface="Calibri"/>
              </a:rPr>
              <a:t>Федресурс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4464" y="443484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B60"/>
                </a:solidFill>
                <a:latin typeface="Calibri"/>
              </a:rPr>
              <a:t>10 сообщений о лизинге. Опыт работы с лизинговыми инструментами уже есть.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537960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AA89E"/>
                </a:solidFill>
                <a:latin typeface="Calibri"/>
              </a:rPr>
              <a:t>ООО «Казанские Деликатесы»  ·  ИНН 1686021074  ·  для служебного пользования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0" y="653796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AA89E"/>
                </a:solidFill>
                <a:latin typeface="Calibri"/>
              </a:rPr>
              <a:t>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6032"/>
            <a:ext cx="384048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24128" y="292608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5E3B"/>
                </a:solidFill>
                <a:latin typeface="Calibri"/>
              </a:rPr>
              <a:t>ООО «Казанские Деликатесы»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5E3B"/>
                </a:solidFill>
                <a:latin typeface="Calibri"/>
              </a:rPr>
              <a:t>ПРОДУКЦИЯ И КАЧЕСТВО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2241B"/>
                </a:solidFill>
                <a:latin typeface="Calibri"/>
              </a:rPr>
              <a:t>Три линейки, один халяльный контур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365760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1911096"/>
            <a:ext cx="3383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B5E3B"/>
                </a:solidFill>
                <a:latin typeface="Calibri"/>
              </a:rPr>
              <a:t>Заморозка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233172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B60"/>
                </a:solidFill>
                <a:latin typeface="Calibri"/>
              </a:rPr>
              <a:t>Сосиски гриль, котлеты, пепперони и топпинги, мясные заготовки. Срок до 360 суток при −18 °C.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783080"/>
            <a:ext cx="365760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9704" y="1911096"/>
            <a:ext cx="3383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B5E3B"/>
                </a:solidFill>
                <a:latin typeface="Calibri"/>
              </a:rPr>
              <a:t>Охлаждёнка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9704" y="233172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B60"/>
                </a:solidFill>
                <a:latin typeface="Calibri"/>
              </a:rPr>
              <a:t>Сосиски и сардельки, колбасы, ветчины, казылык. Срок 30 суток. Фасовка в том числе по 8 шт.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783080"/>
            <a:ext cx="365760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84464" y="1911096"/>
            <a:ext cx="3383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B5E3B"/>
                </a:solidFill>
                <a:latin typeface="Calibri"/>
              </a:rPr>
              <a:t>Выпечка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4464" y="233172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B60"/>
                </a:solidFill>
                <a:latin typeface="Calibri"/>
              </a:rPr>
              <a:t>Эчпочмак, губадия, перемяч, самса, чак-чак, сосиска в тесте — АЗС и ритейл.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89120"/>
            <a:ext cx="110642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572000"/>
            <a:ext cx="10607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2241B"/>
                </a:solidFill>
                <a:latin typeface="Calibri"/>
              </a:rPr>
              <a:t>Сертификаты только подтверждённые: Халяль ДУМ РТ № 614A/2024, HACCP, ISO 22000:2018, ТР ТС 021/2011.</a:t>
            </a:r>
          </a:p>
          <a:p>
            <a:pPr algn="l"/>
            <a:r>
              <a:rPr sz="1600" b="0">
                <a:solidFill>
                  <a:srgbClr val="12241B"/>
                </a:solidFill>
                <a:latin typeface="Calibri"/>
              </a:rPr>
              <a:t>Прослеживаемость партий, ВСД «Меркурий», входной контроль сырья. Без ГМО и трансглютаминазы.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537960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AA89E"/>
                </a:solidFill>
                <a:latin typeface="Calibri"/>
              </a:rPr>
              <a:t>ООО «Казанские Деликатесы»  ·  ИНН 1686021074  ·  для служебного пользования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53796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AA89E"/>
                </a:solidFill>
                <a:latin typeface="Calibri"/>
              </a:rPr>
              <a:t>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6032"/>
            <a:ext cx="384048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24128" y="292608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5E3B"/>
                </a:solidFill>
                <a:latin typeface="Calibri"/>
              </a:rPr>
              <a:t>ООО «Казанские Деликатесы»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5E3B"/>
                </a:solidFill>
                <a:latin typeface="Calibri"/>
              </a:rPr>
              <a:t>РЫНОК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2241B"/>
                </a:solidFill>
                <a:latin typeface="Calibri"/>
              </a:rPr>
              <a:t>Якорные каналы уже федеральные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548640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84248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2241B"/>
                </a:solidFill>
                <a:latin typeface="Calibri"/>
              </a:rPr>
              <a:t>АЗС «Татнефть» — сосиски и котлеты по сети.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39496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8424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2241B"/>
                </a:solidFill>
                <a:latin typeface="Calibri"/>
              </a:rPr>
              <a:t>HoReCa: GFC, «СвитЛайф»; корпоративное питание КВЗ.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679192"/>
            <a:ext cx="548640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880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2241B"/>
                </a:solidFill>
                <a:latin typeface="Calibri"/>
              </a:rPr>
              <a:t>СМАРТЕН — халяль в прикассовой зоне АЗС.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679192"/>
            <a:ext cx="539496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8803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2241B"/>
                </a:solidFill>
                <a:latin typeface="Calibri"/>
              </a:rPr>
              <a:t>Отгрузка EXW Казань, регулярные плечи по РФ.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575304"/>
            <a:ext cx="548640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776472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2241B"/>
                </a:solidFill>
                <a:latin typeface="Calibri"/>
              </a:rPr>
              <a:t>АО «ОМПК» — СТМ Aslam, традиционные колбасы.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575304"/>
            <a:ext cx="539496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377647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2241B"/>
                </a:solidFill>
                <a:latin typeface="Calibri"/>
              </a:rPr>
              <a:t>Экспорт: RUB, USD, KZT, UZS, KGS, BYN, AZN.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471416"/>
            <a:ext cx="548640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672584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2241B"/>
                </a:solidFill>
                <a:latin typeface="Calibri"/>
              </a:rPr>
              <a:t>Ритейл: EuroSpar, Бэхетле, Metro, Мираторг.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471416"/>
            <a:ext cx="539496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4672584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2241B"/>
                </a:solidFill>
                <a:latin typeface="Calibri"/>
              </a:rPr>
              <a:t>1 кв. 2026: 229 млн ₽ — темп к обороту 1 млрд.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9436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B60"/>
                </a:solidFill>
                <a:latin typeface="Calibri"/>
              </a:rPr>
              <a:t>2025: 869 млн ₽ — выход за порог малого предприятия (800 млн ₽, 209-ФЗ). Категория: среднее. Цель 2026 — свыше 1 млрд ₽.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537960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AA89E"/>
                </a:solidFill>
                <a:latin typeface="Calibri"/>
              </a:rPr>
              <a:t>ООО «Казанские Деликатесы»  ·  ИНН 1686021074  ·  для служебного пользования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653796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AA89E"/>
                </a:solidFill>
                <a:latin typeface="Calibri"/>
              </a:rPr>
              <a:t>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6032"/>
            <a:ext cx="384048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24128" y="292608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5E3B"/>
                </a:solidFill>
                <a:latin typeface="Calibri"/>
              </a:rPr>
              <a:t>ООО «Казанские Деликатесы»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5E3B"/>
                </a:solidFill>
                <a:latin typeface="Calibri"/>
              </a:rPr>
              <a:t>ПРОЕКТ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2241B"/>
                </a:solidFill>
                <a:latin typeface="Calibri"/>
              </a:rPr>
              <a:t>Роботизация линий: четыре контура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557784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1911096"/>
            <a:ext cx="53035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B5E3B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233172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B60"/>
                </a:solidFill>
                <a:latin typeface="Calibri"/>
              </a:rPr>
              <a:t>Палетоукладчики. Снять ручной штабель с охлаждёнки и заморозки. Тонны в смену, меньше травматизма.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1783080"/>
            <a:ext cx="557784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55663" y="1911096"/>
            <a:ext cx="53035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B5E3B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55663" y="233172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B60"/>
                </a:solidFill>
                <a:latin typeface="Calibri"/>
              </a:rPr>
              <a:t>Раскладка сосисок по 8 шт. Автомат на машинах «Вариовак». Горлышко фасовки, не рецептуры.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749039"/>
            <a:ext cx="557784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3877055"/>
            <a:ext cx="53035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B5E3B"/>
                </a:solidFill>
                <a:latin typeface="Calibr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4297679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B60"/>
                </a:solidFill>
                <a:latin typeface="Calibri"/>
              </a:rPr>
              <a:t>Машинное зрение. Геометрия, дефект оболочки, комплектность упаковки — вместо выборочного осмотра.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59" y="3749039"/>
            <a:ext cx="557784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5663" y="3877055"/>
            <a:ext cx="53035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B5E3B"/>
                </a:solidFill>
                <a:latin typeface="Calibri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55663" y="4297679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B60"/>
                </a:solidFill>
                <a:latin typeface="Calibri"/>
              </a:rPr>
              <a:t>Линия Variovac. Упаковочный контур, к которому крепятся робот раскладки и зрение. Без линии нет такта.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537960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AA89E"/>
                </a:solidFill>
                <a:latin typeface="Calibri"/>
              </a:rPr>
              <a:t>ООО «Казанские Деликатесы»  ·  ИНН 1686021074  ·  для служебного пользования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53796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AA89E"/>
                </a:solidFill>
                <a:latin typeface="Calibri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6032"/>
            <a:ext cx="384048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24128" y="292608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5E3B"/>
                </a:solidFill>
                <a:latin typeface="Calibri"/>
              </a:rPr>
              <a:t>ООО «Казанские Деликатесы»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5E3B"/>
                </a:solidFill>
                <a:latin typeface="Calibri"/>
              </a:rPr>
              <a:t>БАРЬЕР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2241B"/>
                </a:solidFill>
                <a:latin typeface="Calibri"/>
              </a:rPr>
              <a:t>Железо компенсируют. Интеграцию — почти нет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20240"/>
            <a:ext cx="4937760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2048256"/>
            <a:ext cx="4663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B5E3B"/>
                </a:solidFill>
                <a:latin typeface="Calibri"/>
              </a:rPr>
              <a:t>×3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246888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B60"/>
                </a:solidFill>
                <a:latin typeface="Calibri"/>
              </a:rPr>
              <a:t>Затраты на интеграцию роботов в действующее производство могут втрое превышать стоимость машин: инженерия, оснастка, синхронизация с Variovac, безопасность, простой, обучение.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0" y="1920240"/>
            <a:ext cx="59436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0" y="2148840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2241B"/>
                </a:solidFill>
                <a:latin typeface="Calibri"/>
              </a:rPr>
              <a:t>Льготный заём РФРП — до 200 млн ₽, 3–5%, до 5 лет.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0" y="2880360"/>
            <a:ext cx="59436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0" y="3108960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2241B"/>
                </a:solidFill>
                <a:latin typeface="Calibri"/>
              </a:rPr>
              <a:t>Нацпроект «Производительность труда»: ФРП от 3% + РЦК.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0" y="3840480"/>
            <a:ext cx="59436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069080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2241B"/>
                </a:solidFill>
                <a:latin typeface="Calibri"/>
              </a:rPr>
              <a:t>Региональные субсидии на оборудование: 3 млрд ₽ в бюджете РТ на 2026.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0" y="4800600"/>
            <a:ext cx="59436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52160" y="5029200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2241B"/>
                </a:solidFill>
                <a:latin typeface="Calibri"/>
              </a:rPr>
              <a:t>Льготный лизинг: до 40 млн ₽, 9,5% / 11,5%.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537960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AA89E"/>
                </a:solidFill>
                <a:latin typeface="Calibri"/>
              </a:rPr>
              <a:t>ООО «Казанские Деликатесы»  ·  ИНН 1686021074  ·  для служебного пользования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53796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AA89E"/>
                </a:solidFill>
                <a:latin typeface="Calibri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6032"/>
            <a:ext cx="384048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24128" y="292608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5E3B"/>
                </a:solidFill>
                <a:latin typeface="Calibri"/>
              </a:rPr>
              <a:t>ООО «Казанские Деликатесы»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5E3B"/>
                </a:solidFill>
                <a:latin typeface="Calibri"/>
              </a:rPr>
              <a:t>ПРОСЬБА К МИНПРОМТОРГУ РТ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2241B"/>
                </a:solidFill>
                <a:latin typeface="Calibri"/>
              </a:rPr>
              <a:t>Три поручения, которые двигают проект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011680"/>
            <a:ext cx="10607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2241B"/>
                </a:solidFill>
                <a:latin typeface="Calibri"/>
              </a:rPr>
              <a:t>1. Подтвердить применимость мер к проекту — включая интеграцию, не только CAPEX на манипуляторы. Письмо Председателю Правительства РТ А. В. Песошину направлено.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063240"/>
            <a:ext cx="110642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291840"/>
            <a:ext cx="10607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2241B"/>
                </a:solidFill>
                <a:latin typeface="Calibri"/>
              </a:rPr>
              <a:t>2. Организовать консультацию РЦК и Центра развития промышленной робототехники (Университет Иннополис) — дорожная карта на нашей площадке.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343400"/>
            <a:ext cx="110642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572000"/>
            <a:ext cx="10607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2241B"/>
                </a:solidFill>
                <a:latin typeface="Calibri"/>
              </a:rPr>
              <a:t>3. Посадить за один стол Минпромторг, Минэкономики и Минсельхоз РТ: условия займа РФРП и субсидии 2026 года под конкретный перечень оборудования и работ.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B60"/>
                </a:solidFill>
                <a:latin typeface="Calibri"/>
              </a:rPr>
              <a:t>Уже пользовались мерами поддержки МСП: 3,5 млн ₽, 23 меры, 0 нарушений. Готовы к контуру промышленной модернизации.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537960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AA89E"/>
                </a:solidFill>
                <a:latin typeface="Calibri"/>
              </a:rPr>
              <a:t>ООО «Казанские Деликатесы»  ·  ИНН 1686021074  ·  для служебного пользования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53796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AA89E"/>
                </a:solidFill>
                <a:latin typeface="Calibri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2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6032"/>
            <a:ext cx="384048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24128" y="292608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6F1E6"/>
                </a:solidFill>
                <a:latin typeface="Calibri"/>
              </a:rPr>
              <a:t>ООО «Казанские Деликатесы»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9A227"/>
                </a:solidFill>
                <a:latin typeface="Calibri"/>
              </a:rPr>
              <a:t>ГОТОВЫ К СЛЕДУЮЩЕЙ ВСТРЕЧЕ НА ПЛОЩАДКЕ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6F1E6"/>
                </a:solidFill>
                <a:latin typeface="Calibri"/>
              </a:rPr>
              <a:t>869 млн уже есть.</a:t>
            </a:r>
          </a:p>
          <a:p>
            <a:pPr algn="l"/>
            <a:r>
              <a:rPr sz="3400" b="1">
                <a:solidFill>
                  <a:srgbClr val="F6F1E6"/>
                </a:solidFill>
                <a:latin typeface="Calibri"/>
              </a:rPr>
              <a:t>1 млрд — следующий такт,</a:t>
            </a:r>
          </a:p>
          <a:p>
            <a:pPr algn="l"/>
            <a:r>
              <a:rPr sz="3400" b="1">
                <a:solidFill>
                  <a:srgbClr val="F6F1E6"/>
                </a:solidFill>
                <a:latin typeface="Calibri"/>
              </a:rPr>
              <a:t>если линия не останется ручной.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709160"/>
            <a:ext cx="3657600" cy="1143000"/>
          </a:xfrm>
          <a:prstGeom prst="roundRect">
            <a:avLst>
              <a:gd name="adj" fmla="val 8000"/>
            </a:avLst>
          </a:prstGeom>
          <a:solidFill>
            <a:srgbClr val="0C2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4837176"/>
            <a:ext cx="3383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C9A227"/>
                </a:solidFill>
                <a:latin typeface="Calibri"/>
              </a:rPr>
              <a:t>+7 987 217-02-02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525780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6F1E6"/>
                </a:solidFill>
                <a:latin typeface="Calibri"/>
              </a:rPr>
              <a:t>Адаева Гульнара Нурхаматовна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4709160"/>
            <a:ext cx="3657600" cy="1143000"/>
          </a:xfrm>
          <a:prstGeom prst="roundRect">
            <a:avLst>
              <a:gd name="adj" fmla="val 8000"/>
            </a:avLst>
          </a:prstGeom>
          <a:solidFill>
            <a:srgbClr val="0C2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35424" y="4837176"/>
            <a:ext cx="3383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C9A227"/>
                </a:solidFill>
                <a:latin typeface="Calibri"/>
              </a:rPr>
              <a:t>info@kazandelikates.tatar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35424" y="525780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6F1E6"/>
                </a:solidFill>
                <a:latin typeface="Calibri"/>
              </a:rPr>
              <a:t>kazandelikates.tatar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4709160"/>
            <a:ext cx="3383280" cy="1143000"/>
          </a:xfrm>
          <a:prstGeom prst="roundRect">
            <a:avLst>
              <a:gd name="adj" fmla="val 8000"/>
            </a:avLst>
          </a:prstGeom>
          <a:solidFill>
            <a:srgbClr val="0C2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75904" y="4837176"/>
            <a:ext cx="3108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C9A227"/>
                </a:solidFill>
                <a:latin typeface="Calibri"/>
              </a:rPr>
              <a:t>Казань, Аграрная,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75904" y="525780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6F1E6"/>
                </a:solidFill>
                <a:latin typeface="Calibri"/>
              </a:rPr>
              <a:t>Агропромпарк «Казань»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537960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A8C80"/>
                </a:solidFill>
                <a:latin typeface="Calibri"/>
              </a:rPr>
              <a:t>ООО «Казанские Деликатесы»  ·  ИНН 1686021074  ·  для служебного пользования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53796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7A8C80"/>
                </a:solidFill>
                <a:latin typeface="Calibri"/>
              </a:rP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